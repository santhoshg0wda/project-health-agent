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D1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0" y="109728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E03C31"/>
                </a:solidFill>
                <a:latin typeface="Georgia"/>
              </a:defRPr>
            </a:pPr>
            <a:r>
              <a:t>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5A623"/>
                </a:solidFill>
                <a:latin typeface="Georgia"/>
              </a:defRPr>
            </a:pPr>
            <a: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47472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27AE60"/>
                </a:solidFill>
                <a:latin typeface="Georgia"/>
              </a:defRPr>
            </a:pPr>
            <a:r>
              <a:t>G</a:t>
            </a:r>
          </a:p>
        </p:txBody>
      </p:sp>
      <p:sp>
        <p:nvSpPr>
          <p:cNvPr id="6" name="Rectangle 5"/>
          <p:cNvSpPr/>
          <p:nvPr/>
        </p:nvSpPr>
        <p:spPr>
          <a:xfrm>
            <a:off x="9326880" y="1371600"/>
            <a:ext cx="36576" cy="4114800"/>
          </a:xfrm>
          <a:prstGeom prst="rect">
            <a:avLst/>
          </a:prstGeom>
          <a:solidFill>
            <a:srgbClr val="4A5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7772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Georgia"/>
              </a:defRPr>
            </a:pPr>
            <a:r>
              <a:t>Project Health</a:t>
            </a:r>
            <a:br/>
            <a:r>
              <a:t>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ADCFC"/>
                </a:solidFill>
                <a:latin typeface="Calibri"/>
              </a:defRPr>
            </a:pPr>
            <a:r>
              <a:t>Week ending 2026-07-10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2B0"/>
                </a:solidFill>
                <a:latin typeface="Calibri"/>
              </a:defRPr>
            </a:pPr>
            <a:r>
              <a:t>For Client Leadership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Georgia"/>
              </a:defRPr>
            </a:pPr>
            <a:r>
              <a:t>Portfolio RAG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2468880" cy="1463040"/>
          </a:xfrm>
          <a:prstGeom prst="rect">
            <a:avLst/>
          </a:prstGeom>
          <a:solidFill>
            <a:srgbClr val="1A2348"/>
          </a:solidFill>
          <a:ln>
            <a:noFill/>
          </a:ln>
          <a:effectLst>
            <a:outerShdw blurRad="40000" dist="20000" dir="1350000" algn="bl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Georgia"/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92B0"/>
                </a:solidFill>
                <a:latin typeface="Calibri"/>
              </a:defRPr>
            </a:pPr>
            <a:r>
              <a:t>Total Projects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520439" y="1371600"/>
            <a:ext cx="2468880" cy="1463040"/>
          </a:xfrm>
          <a:prstGeom prst="rect">
            <a:avLst/>
          </a:prstGeom>
          <a:solidFill>
            <a:srgbClr val="1A2348"/>
          </a:solidFill>
          <a:ln>
            <a:noFill/>
          </a:ln>
          <a:effectLst>
            <a:outerShdw blurRad="40000" dist="20000" dir="1350000" algn="bl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20439" y="146304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03C31"/>
                </a:solidFill>
                <a:latin typeface="Georgia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39" y="22860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92B0"/>
                </a:solidFill>
                <a:latin typeface="Calibri"/>
              </a:defRPr>
            </a:pPr>
            <a:r>
              <a:t>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59" y="1371600"/>
            <a:ext cx="2468880" cy="1463040"/>
          </a:xfrm>
          <a:prstGeom prst="rect">
            <a:avLst/>
          </a:prstGeom>
          <a:solidFill>
            <a:srgbClr val="1A2348"/>
          </a:solidFill>
          <a:ln>
            <a:noFill/>
          </a:ln>
          <a:effectLst>
            <a:outerShdw blurRad="40000" dist="20000" dir="1350000" algn="bl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59" y="146304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5A623"/>
                </a:solidFill>
                <a:latin typeface="Georgia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59" y="22860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92B0"/>
                </a:solidFill>
                <a:latin typeface="Calibri"/>
              </a:defRPr>
            </a:pPr>
            <a:r>
              <a:t>Amber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98280" y="1371600"/>
            <a:ext cx="2468880" cy="1463040"/>
          </a:xfrm>
          <a:prstGeom prst="rect">
            <a:avLst/>
          </a:prstGeom>
          <a:solidFill>
            <a:srgbClr val="1A2348"/>
          </a:solidFill>
          <a:ln>
            <a:noFill/>
          </a:ln>
          <a:effectLst>
            <a:outerShdw blurRad="40000" dist="20000" dir="1350000" algn="bl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98280" y="146304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27AE60"/>
                </a:solidFill>
                <a:latin typeface="Georgia"/>
              </a:defRPr>
            </a:pPr>
            <a: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80" y="22860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92B0"/>
                </a:solidFill>
                <a:latin typeface="Calibri"/>
              </a:defRPr>
            </a:pPr>
            <a:r>
              <a:t>Green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291840"/>
            <a:ext cx="10698480" cy="1645920"/>
          </a:xfrm>
          <a:prstGeom prst="rect">
            <a:avLst/>
          </a:prstGeom>
          <a:solidFill>
            <a:srgbClr val="1A2348"/>
          </a:solidFill>
          <a:ln>
            <a:noFill/>
          </a:ln>
          <a:effectLst>
            <a:outerShdw blurRad="40000" dist="20000" dir="1350000" algn="bl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474720"/>
            <a:ext cx="914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E03C31"/>
                </a:solidFill>
                <a:latin typeface="Calibri"/>
              </a:defRPr>
            </a:pPr>
            <a:r>
              <a:t>Red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0" y="3502151"/>
            <a:ext cx="7772400" cy="256032"/>
          </a:xfrm>
          <a:prstGeom prst="rect">
            <a:avLst/>
          </a:prstGeom>
          <a:solidFill>
            <a:srgbClr val="E03C31"/>
          </a:solidFill>
          <a:ln>
            <a:noFill/>
          </a:ln>
          <a:effectLst>
            <a:outerShdw blurRad="40000" dist="20000" dir="1350000" algn="bl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49840" y="3474720"/>
            <a:ext cx="731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931920"/>
            <a:ext cx="914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5A623"/>
                </a:solidFill>
                <a:latin typeface="Calibri"/>
              </a:defRPr>
            </a:pPr>
            <a:r>
              <a:t>Amber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0" y="3959352"/>
            <a:ext cx="3886200" cy="256032"/>
          </a:xfrm>
          <a:prstGeom prst="rect">
            <a:avLst/>
          </a:prstGeom>
          <a:solidFill>
            <a:srgbClr val="F5A623"/>
          </a:solidFill>
          <a:ln>
            <a:noFill/>
          </a:ln>
          <a:effectLst>
            <a:outerShdw blurRad="40000" dist="20000" dir="1350000" algn="bl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3931920"/>
            <a:ext cx="731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389120"/>
            <a:ext cx="914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  <a:latin typeface="Calibri"/>
              </a:defRPr>
            </a:pPr>
            <a:r>
              <a:t>Green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4389120"/>
            <a:ext cx="731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892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ADCFC"/>
                </a:solidFill>
                <a:latin typeface="Georgia"/>
              </a:defRPr>
            </a:pPr>
            <a:r>
              <a:t>Project Detail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5212080"/>
            <a:ext cx="640080" cy="256032"/>
          </a:xfrm>
          <a:prstGeom prst="rect">
            <a:avLst/>
          </a:prstGeom>
          <a:solidFill>
            <a:srgbClr val="E03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212080"/>
            <a:ext cx="6400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Red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5212080"/>
            <a:ext cx="54864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Zycus - UniSan S2P Implementation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5212080"/>
            <a:ext cx="3657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8892B0"/>
                </a:solidFill>
                <a:latin typeface="Calibri"/>
              </a:defRPr>
            </a:pPr>
            <a:r>
              <a:t>44% · Rajat Bothra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5577840"/>
            <a:ext cx="640080" cy="2560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577840"/>
            <a:ext cx="6400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Amber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5577840"/>
            <a:ext cx="54864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CRM Migration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5577840"/>
            <a:ext cx="3657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8892B0"/>
                </a:solidFill>
                <a:latin typeface="Calibri"/>
              </a:defRPr>
            </a:pPr>
            <a:r>
              <a:t>70% · N/A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5943600"/>
            <a:ext cx="640080" cy="256032"/>
          </a:xfrm>
          <a:prstGeom prst="rect">
            <a:avLst/>
          </a:prstGeom>
          <a:solidFill>
            <a:srgbClr val="E03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943600"/>
            <a:ext cx="6400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Red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5943600"/>
            <a:ext cx="54864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Zycus - Titan S2P Implementation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5943600"/>
            <a:ext cx="3657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8892B0"/>
                </a:solidFill>
                <a:latin typeface="Calibri"/>
              </a:defRPr>
            </a:pPr>
            <a:r>
              <a:t>71% · Aftab Hashambhai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Georgia"/>
              </a:defRPr>
            </a:pPr>
            <a:r>
              <a:t>Project Detail &amp; Signal Breakdown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3474720" cy="4846320"/>
          </a:xfrm>
          <a:prstGeom prst="rect">
            <a:avLst/>
          </a:prstGeom>
          <a:solidFill>
            <a:srgbClr val="1A2348"/>
          </a:solidFill>
          <a:ln>
            <a:noFill/>
          </a:ln>
          <a:effectLst>
            <a:outerShdw blurRad="40000" dist="20000" dir="1350000" algn="bl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3474720" cy="54864"/>
          </a:xfrm>
          <a:prstGeom prst="rect">
            <a:avLst/>
          </a:prstGeom>
          <a:solidFill>
            <a:srgbClr val="E03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Georgia"/>
              </a:defRPr>
            </a:pPr>
            <a:r>
              <a:t>Zycus - UniSan S2P 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1965960"/>
            <a:ext cx="640080" cy="274320"/>
          </a:xfrm>
          <a:prstGeom prst="rect">
            <a:avLst/>
          </a:prstGeom>
          <a:solidFill>
            <a:srgbClr val="E03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965960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CADCFC"/>
                </a:solidFill>
                <a:latin typeface="Calibri"/>
              </a:defRPr>
            </a:pPr>
            <a:r>
              <a:t>44% complete</a:t>
            </a:r>
          </a:p>
        </p:txBody>
      </p:sp>
      <p:sp>
        <p:nvSpPr>
          <p:cNvPr id="9" name="Oval 8"/>
          <p:cNvSpPr/>
          <p:nvPr/>
        </p:nvSpPr>
        <p:spPr>
          <a:xfrm>
            <a:off x="1005840" y="2542032"/>
            <a:ext cx="137160" cy="13716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2468880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8892B0"/>
                </a:solidFill>
                <a:latin typeface="Calibri"/>
              </a:defRPr>
            </a:pPr>
            <a:r>
              <a:t>schedule slippage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39" y="2468880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F5A623"/>
                </a:solidFill>
                <a:latin typeface="Calibri"/>
              </a:defRPr>
            </a:pPr>
            <a:r>
              <a:t>Amber</a:t>
            </a:r>
          </a:p>
        </p:txBody>
      </p:sp>
      <p:sp>
        <p:nvSpPr>
          <p:cNvPr id="12" name="Oval 11"/>
          <p:cNvSpPr/>
          <p:nvPr/>
        </p:nvSpPr>
        <p:spPr>
          <a:xfrm>
            <a:off x="1005840" y="2889504"/>
            <a:ext cx="137160" cy="137160"/>
          </a:xfrm>
          <a:prstGeom prst="ellipse">
            <a:avLst/>
          </a:prstGeom>
          <a:solidFill>
            <a:srgbClr val="889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2816352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8892B0"/>
                </a:solidFill>
                <a:latin typeface="Calibri"/>
              </a:defRPr>
            </a:pPr>
            <a:r>
              <a:t>budget burn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39" y="2816352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8892B0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5" name="Oval 14"/>
          <p:cNvSpPr/>
          <p:nvPr/>
        </p:nvSpPr>
        <p:spPr>
          <a:xfrm>
            <a:off x="1005840" y="3236976"/>
            <a:ext cx="137160" cy="137160"/>
          </a:xfrm>
          <a:prstGeom prst="ellipse">
            <a:avLst/>
          </a:prstGeom>
          <a:solidFill>
            <a:srgbClr val="E03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163824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8892B0"/>
                </a:solidFill>
                <a:latin typeface="Calibri"/>
              </a:defRPr>
            </a:pPr>
            <a:r>
              <a:t>milestone health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39" y="3163824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E03C31"/>
                </a:solidFill>
                <a:latin typeface="Calibri"/>
              </a:defRPr>
            </a:pPr>
            <a:r>
              <a:t>Red</a:t>
            </a:r>
          </a:p>
        </p:txBody>
      </p:sp>
      <p:sp>
        <p:nvSpPr>
          <p:cNvPr id="18" name="Oval 17"/>
          <p:cNvSpPr/>
          <p:nvPr/>
        </p:nvSpPr>
        <p:spPr>
          <a:xfrm>
            <a:off x="1005840" y="3584448"/>
            <a:ext cx="137160" cy="137160"/>
          </a:xfrm>
          <a:prstGeom prst="ellipse">
            <a:avLst/>
          </a:prstGeom>
          <a:solidFill>
            <a:srgbClr val="E03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3511296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8892B0"/>
                </a:solidFill>
                <a:latin typeface="Calibri"/>
              </a:defRPr>
            </a:pPr>
            <a:r>
              <a:t>blockers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39" y="3511296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E03C31"/>
                </a:solidFill>
                <a:latin typeface="Calibri"/>
              </a:defRPr>
            </a:pPr>
            <a:r>
              <a:t>Red</a:t>
            </a:r>
          </a:p>
        </p:txBody>
      </p:sp>
      <p:sp>
        <p:nvSpPr>
          <p:cNvPr id="21" name="Oval 20"/>
          <p:cNvSpPr/>
          <p:nvPr/>
        </p:nvSpPr>
        <p:spPr>
          <a:xfrm>
            <a:off x="1005840" y="3931920"/>
            <a:ext cx="137160" cy="137160"/>
          </a:xfrm>
          <a:prstGeom prst="ellipse">
            <a:avLst/>
          </a:prstGeom>
          <a:solidFill>
            <a:srgbClr val="889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0" y="3858768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8892B0"/>
                </a:solidFill>
                <a:latin typeface="Calibri"/>
              </a:defRPr>
            </a:pPr>
            <a:r>
              <a:t>stakeholder sentiment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39" y="3858768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8892B0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577840"/>
            <a:ext cx="2926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580"/>
                </a:solidFill>
                <a:latin typeface="Calibri"/>
              </a:defRPr>
            </a:pPr>
            <a:r>
              <a:t>PM: Rajat Bothra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59" y="1188720"/>
            <a:ext cx="3474720" cy="4846320"/>
          </a:xfrm>
          <a:prstGeom prst="rect">
            <a:avLst/>
          </a:prstGeom>
          <a:solidFill>
            <a:srgbClr val="1A2348"/>
          </a:solidFill>
          <a:ln>
            <a:noFill/>
          </a:ln>
          <a:effectLst>
            <a:outerShdw blurRad="40000" dist="20000" dir="1350000" algn="bl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59" y="1188720"/>
            <a:ext cx="347472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79" y="141732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Georgia"/>
              </a:defRPr>
            </a:pPr>
            <a:r>
              <a:t>CRM Migration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54879" y="1965960"/>
            <a:ext cx="640080" cy="2743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79" y="1965960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Amber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0" y="1965960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CADCFC"/>
                </a:solidFill>
                <a:latin typeface="Calibri"/>
              </a:defRPr>
            </a:pPr>
            <a:r>
              <a:t>70% complete</a:t>
            </a:r>
          </a:p>
        </p:txBody>
      </p:sp>
      <p:sp>
        <p:nvSpPr>
          <p:cNvPr id="31" name="Oval 30"/>
          <p:cNvSpPr/>
          <p:nvPr/>
        </p:nvSpPr>
        <p:spPr>
          <a:xfrm>
            <a:off x="4754879" y="2542032"/>
            <a:ext cx="137160" cy="137160"/>
          </a:xfrm>
          <a:prstGeom prst="ellipse">
            <a:avLst/>
          </a:prstGeom>
          <a:solidFill>
            <a:srgbClr val="889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199" y="2468880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8892B0"/>
                </a:solidFill>
                <a:latin typeface="Calibri"/>
              </a:defRPr>
            </a:pPr>
            <a:r>
              <a:t>schedule slippage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79" y="2468880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8892B0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34" name="Oval 33"/>
          <p:cNvSpPr/>
          <p:nvPr/>
        </p:nvSpPr>
        <p:spPr>
          <a:xfrm>
            <a:off x="4754879" y="2889504"/>
            <a:ext cx="137160" cy="137160"/>
          </a:xfrm>
          <a:prstGeom prst="ellipse">
            <a:avLst/>
          </a:prstGeom>
          <a:solidFill>
            <a:srgbClr val="E03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199" y="2816352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8892B0"/>
                </a:solidFill>
                <a:latin typeface="Calibri"/>
              </a:defRPr>
            </a:pPr>
            <a:r>
              <a:t>budget burn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79" y="2816352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E03C31"/>
                </a:solidFill>
                <a:latin typeface="Calibri"/>
              </a:defRPr>
            </a:pPr>
            <a:r>
              <a:t>Red</a:t>
            </a:r>
          </a:p>
        </p:txBody>
      </p:sp>
      <p:sp>
        <p:nvSpPr>
          <p:cNvPr id="37" name="Oval 36"/>
          <p:cNvSpPr/>
          <p:nvPr/>
        </p:nvSpPr>
        <p:spPr>
          <a:xfrm>
            <a:off x="4754879" y="3236976"/>
            <a:ext cx="137160" cy="13716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199" y="3163824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8892B0"/>
                </a:solidFill>
                <a:latin typeface="Calibri"/>
              </a:defRPr>
            </a:pPr>
            <a:r>
              <a:t>milestone health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79" y="3163824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27AE60"/>
                </a:solidFill>
                <a:latin typeface="Calibri"/>
              </a:defRPr>
            </a:pPr>
            <a:r>
              <a:t>Green</a:t>
            </a:r>
          </a:p>
        </p:txBody>
      </p:sp>
      <p:sp>
        <p:nvSpPr>
          <p:cNvPr id="40" name="Oval 39"/>
          <p:cNvSpPr/>
          <p:nvPr/>
        </p:nvSpPr>
        <p:spPr>
          <a:xfrm>
            <a:off x="4754879" y="3584448"/>
            <a:ext cx="137160" cy="13716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199" y="3511296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8892B0"/>
                </a:solidFill>
                <a:latin typeface="Calibri"/>
              </a:defRPr>
            </a:pPr>
            <a:r>
              <a:t>blockers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40879" y="3511296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27AE60"/>
                </a:solidFill>
                <a:latin typeface="Calibri"/>
              </a:defRPr>
            </a:pPr>
            <a:r>
              <a:t>Green</a:t>
            </a:r>
          </a:p>
        </p:txBody>
      </p:sp>
      <p:sp>
        <p:nvSpPr>
          <p:cNvPr id="43" name="Oval 42"/>
          <p:cNvSpPr/>
          <p:nvPr/>
        </p:nvSpPr>
        <p:spPr>
          <a:xfrm>
            <a:off x="4754879" y="3931920"/>
            <a:ext cx="137160" cy="137160"/>
          </a:xfrm>
          <a:prstGeom prst="ellipse">
            <a:avLst/>
          </a:prstGeom>
          <a:solidFill>
            <a:srgbClr val="889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199" y="3858768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8892B0"/>
                </a:solidFill>
                <a:latin typeface="Calibri"/>
              </a:defRPr>
            </a:pPr>
            <a:r>
              <a:t>stakeholder sentiment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40879" y="3858768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8892B0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54879" y="5577840"/>
            <a:ext cx="2926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580"/>
                </a:solidFill>
                <a:latin typeface="Calibri"/>
              </a:defRPr>
            </a:pPr>
            <a:r>
              <a:t>PM: N/A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9600" y="1188720"/>
            <a:ext cx="3474720" cy="4846320"/>
          </a:xfrm>
          <a:prstGeom prst="rect">
            <a:avLst/>
          </a:prstGeom>
          <a:solidFill>
            <a:srgbClr val="1A2348"/>
          </a:solidFill>
          <a:ln>
            <a:noFill/>
          </a:ln>
          <a:effectLst>
            <a:outerShdw blurRad="40000" dist="20000" dir="1350000" algn="bl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229600" y="1188720"/>
            <a:ext cx="3474720" cy="54864"/>
          </a:xfrm>
          <a:prstGeom prst="rect">
            <a:avLst/>
          </a:prstGeom>
          <a:solidFill>
            <a:srgbClr val="E03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03920" y="141732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Georgia"/>
              </a:defRPr>
            </a:pPr>
            <a:r>
              <a:t>Zycus - Titan S2P Implementation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503920" y="1965960"/>
            <a:ext cx="640080" cy="274320"/>
          </a:xfrm>
          <a:prstGeom prst="rect">
            <a:avLst/>
          </a:prstGeom>
          <a:solidFill>
            <a:srgbClr val="E03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03920" y="1965960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26880" y="1965960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CADCFC"/>
                </a:solidFill>
                <a:latin typeface="Calibri"/>
              </a:defRPr>
            </a:pPr>
            <a:r>
              <a:t>71% complete</a:t>
            </a:r>
          </a:p>
        </p:txBody>
      </p:sp>
      <p:sp>
        <p:nvSpPr>
          <p:cNvPr id="53" name="Oval 52"/>
          <p:cNvSpPr/>
          <p:nvPr/>
        </p:nvSpPr>
        <p:spPr>
          <a:xfrm>
            <a:off x="8503920" y="2542032"/>
            <a:ext cx="137160" cy="13716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778240" y="2468880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8892B0"/>
                </a:solidFill>
                <a:latin typeface="Calibri"/>
              </a:defRPr>
            </a:pPr>
            <a:r>
              <a:t>schedule slippage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89920" y="2468880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F5A623"/>
                </a:solidFill>
                <a:latin typeface="Calibri"/>
              </a:defRPr>
            </a:pPr>
            <a:r>
              <a:t>Amber</a:t>
            </a:r>
          </a:p>
        </p:txBody>
      </p:sp>
      <p:sp>
        <p:nvSpPr>
          <p:cNvPr id="56" name="Oval 55"/>
          <p:cNvSpPr/>
          <p:nvPr/>
        </p:nvSpPr>
        <p:spPr>
          <a:xfrm>
            <a:off x="8503920" y="2889504"/>
            <a:ext cx="137160" cy="137160"/>
          </a:xfrm>
          <a:prstGeom prst="ellipse">
            <a:avLst/>
          </a:prstGeom>
          <a:solidFill>
            <a:srgbClr val="889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778240" y="2816352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8892B0"/>
                </a:solidFill>
                <a:latin typeface="Calibri"/>
              </a:defRPr>
            </a:pPr>
            <a:r>
              <a:t>budget burn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789920" y="2816352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8892B0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59" name="Oval 58"/>
          <p:cNvSpPr/>
          <p:nvPr/>
        </p:nvSpPr>
        <p:spPr>
          <a:xfrm>
            <a:off x="8503920" y="3236976"/>
            <a:ext cx="137160" cy="137160"/>
          </a:xfrm>
          <a:prstGeom prst="ellipse">
            <a:avLst/>
          </a:prstGeom>
          <a:solidFill>
            <a:srgbClr val="E03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778240" y="3163824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8892B0"/>
                </a:solidFill>
                <a:latin typeface="Calibri"/>
              </a:defRPr>
            </a:pPr>
            <a:r>
              <a:t>milestone health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789920" y="3163824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E03C31"/>
                </a:solidFill>
                <a:latin typeface="Calibri"/>
              </a:defRPr>
            </a:pPr>
            <a:r>
              <a:t>Red</a:t>
            </a:r>
          </a:p>
        </p:txBody>
      </p:sp>
      <p:sp>
        <p:nvSpPr>
          <p:cNvPr id="62" name="Oval 61"/>
          <p:cNvSpPr/>
          <p:nvPr/>
        </p:nvSpPr>
        <p:spPr>
          <a:xfrm>
            <a:off x="8503920" y="3584448"/>
            <a:ext cx="137160" cy="13716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778240" y="3511296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8892B0"/>
                </a:solidFill>
                <a:latin typeface="Calibri"/>
              </a:defRPr>
            </a:pPr>
            <a:r>
              <a:t>blockers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789920" y="3511296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27AE60"/>
                </a:solidFill>
                <a:latin typeface="Calibri"/>
              </a:defRPr>
            </a:pPr>
            <a:r>
              <a:t>Green</a:t>
            </a:r>
          </a:p>
        </p:txBody>
      </p:sp>
      <p:sp>
        <p:nvSpPr>
          <p:cNvPr id="65" name="Oval 64"/>
          <p:cNvSpPr/>
          <p:nvPr/>
        </p:nvSpPr>
        <p:spPr>
          <a:xfrm>
            <a:off x="8503920" y="3931920"/>
            <a:ext cx="137160" cy="137160"/>
          </a:xfrm>
          <a:prstGeom prst="ellipse">
            <a:avLst/>
          </a:prstGeom>
          <a:solidFill>
            <a:srgbClr val="889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778240" y="3858768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8892B0"/>
                </a:solidFill>
                <a:latin typeface="Calibri"/>
              </a:defRPr>
            </a:pPr>
            <a:r>
              <a:t>stakeholder sentiment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789920" y="3858768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8892B0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503920" y="5577840"/>
            <a:ext cx="2926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580"/>
                </a:solidFill>
                <a:latin typeface="Calibri"/>
              </a:defRPr>
            </a:pPr>
            <a:r>
              <a:t>PM: Aftab Hashambhai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Georgia"/>
              </a:defRPr>
            </a:pPr>
            <a:r>
              <a:t>Trend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92B0"/>
                </a:solidFill>
                <a:latin typeface="Calibri"/>
              </a:defRPr>
            </a:pPr>
            <a:r>
              <a:t>Current snapshot — trends will appear after 2+ weeks of data collection.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10698480" cy="3657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572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CADCFC"/>
                </a:solidFill>
                <a:latin typeface="Calibri"/>
              </a:defRPr>
            </a:pPr>
            <a:r>
              <a:t>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73736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CADCFC"/>
                </a:solidFill>
                <a:latin typeface="Calibri"/>
              </a:defRPr>
            </a:pPr>
            <a:r>
              <a:t>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73736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CADCFC"/>
                </a:solidFill>
                <a:latin typeface="Calibri"/>
              </a:defRPr>
            </a:pPr>
            <a:r>
              <a:t>Schedule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73736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CADCFC"/>
                </a:solidFill>
                <a:latin typeface="Calibri"/>
              </a:defRPr>
            </a:pPr>
            <a:r>
              <a:t>Milestones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173736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CADCFC"/>
                </a:solidFill>
                <a:latin typeface="Calibri"/>
              </a:defRPr>
            </a:pPr>
            <a:r>
              <a:t>Blockers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solidFill>
            <a:srgbClr val="1A2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94560"/>
            <a:ext cx="4846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Zycus - UniSan S2P Implementation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2267712"/>
            <a:ext cx="548640" cy="219456"/>
          </a:xfrm>
          <a:prstGeom prst="rect">
            <a:avLst/>
          </a:prstGeom>
          <a:solidFill>
            <a:srgbClr val="E03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2267712"/>
            <a:ext cx="54864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2194560"/>
            <a:ext cx="1188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F5A623"/>
                </a:solidFill>
                <a:latin typeface="Calibri"/>
              </a:defRPr>
            </a:pPr>
            <a:r>
              <a:t>● Amber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194560"/>
            <a:ext cx="1188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E03C31"/>
                </a:solidFill>
                <a:latin typeface="Calibri"/>
              </a:defRPr>
            </a:pPr>
            <a:r>
              <a:t>● 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0" y="2194560"/>
            <a:ext cx="1188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E03C31"/>
                </a:solidFill>
                <a:latin typeface="Calibri"/>
              </a:defRPr>
            </a:pPr>
            <a:r>
              <a:t>● Red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606040"/>
            <a:ext cx="10698480" cy="365760"/>
          </a:xfrm>
          <a:prstGeom prst="rect">
            <a:avLst/>
          </a:prstGeom>
          <a:solidFill>
            <a:srgbClr val="0D1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606040"/>
            <a:ext cx="4846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CRM Migration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2679192"/>
            <a:ext cx="548640" cy="21945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2679192"/>
            <a:ext cx="54864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Amber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2606040"/>
            <a:ext cx="1188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8892B0"/>
                </a:solidFill>
                <a:latin typeface="Calibri"/>
              </a:defRPr>
            </a:pPr>
            <a:r>
              <a:t>○ 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606040"/>
            <a:ext cx="1188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27AE60"/>
                </a:solidFill>
                <a:latin typeface="Calibri"/>
              </a:defRPr>
            </a:pPr>
            <a:r>
              <a:t>● Green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2606040"/>
            <a:ext cx="1188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27AE60"/>
                </a:solidFill>
                <a:latin typeface="Calibri"/>
              </a:defRPr>
            </a:pPr>
            <a:r>
              <a:t>● Green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017520"/>
            <a:ext cx="10698480" cy="365760"/>
          </a:xfrm>
          <a:prstGeom prst="rect">
            <a:avLst/>
          </a:prstGeom>
          <a:solidFill>
            <a:srgbClr val="1A2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017520"/>
            <a:ext cx="4846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Zycus - Titan S2P Implementation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3090672"/>
            <a:ext cx="548640" cy="219456"/>
          </a:xfrm>
          <a:prstGeom prst="rect">
            <a:avLst/>
          </a:prstGeom>
          <a:solidFill>
            <a:srgbClr val="E03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3090672"/>
            <a:ext cx="54864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Red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3017520"/>
            <a:ext cx="1188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F5A623"/>
                </a:solidFill>
                <a:latin typeface="Calibri"/>
              </a:defRPr>
            </a:pPr>
            <a:r>
              <a:t>● Amber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3017520"/>
            <a:ext cx="1188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E03C31"/>
                </a:solidFill>
                <a:latin typeface="Calibri"/>
              </a:defRPr>
            </a:pPr>
            <a:r>
              <a:t>● Red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60" y="3017520"/>
            <a:ext cx="1188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27AE60"/>
                </a:solidFill>
                <a:latin typeface="Calibri"/>
              </a:defRPr>
            </a:pPr>
            <a:r>
              <a:t>● Green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Georgia"/>
              </a:defRPr>
            </a:pPr>
            <a:r>
              <a:t>Emerging Risks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698480" cy="685800"/>
          </a:xfrm>
          <a:prstGeom prst="rect">
            <a:avLst/>
          </a:prstGeom>
          <a:solidFill>
            <a:srgbClr val="1A2348"/>
          </a:solidFill>
          <a:ln>
            <a:noFill/>
          </a:ln>
          <a:effectLst>
            <a:outerShdw blurRad="40000" dist="20000" dir="1350000" algn="bl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54864" cy="685800"/>
          </a:xfrm>
          <a:prstGeom prst="rect">
            <a:avLst/>
          </a:prstGeom>
          <a:solidFill>
            <a:srgbClr val="E03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1298448"/>
            <a:ext cx="731520" cy="256032"/>
          </a:xfrm>
          <a:prstGeom prst="rect">
            <a:avLst/>
          </a:prstGeom>
          <a:solidFill>
            <a:srgbClr val="E03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298448"/>
            <a:ext cx="731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Critical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23444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Georgia"/>
              </a:defRPr>
            </a:pPr>
            <a:r>
              <a:t>Zycus - UniSan S2P Implementation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5087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2B0"/>
                </a:solidFill>
                <a:latin typeface="Calibri"/>
              </a:defRPr>
            </a:pPr>
            <a:r>
              <a:t>Multiple Red signals — schedule slippage and overdue milestones. Escalation recommended.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011680"/>
            <a:ext cx="10698480" cy="685800"/>
          </a:xfrm>
          <a:prstGeom prst="rect">
            <a:avLst/>
          </a:prstGeom>
          <a:solidFill>
            <a:srgbClr val="1A2348"/>
          </a:solidFill>
          <a:ln>
            <a:noFill/>
          </a:ln>
          <a:effectLst>
            <a:outerShdw blurRad="40000" dist="20000" dir="1350000" algn="bl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011680"/>
            <a:ext cx="54864" cy="685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97280" y="2121408"/>
            <a:ext cx="731520" cy="2560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121408"/>
            <a:ext cx="731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05740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Georgia"/>
              </a:defRPr>
            </a:pPr>
            <a:r>
              <a:t>Zycus - UniSan S2P Implementation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23317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2B0"/>
                </a:solidFill>
                <a:latin typeface="Calibri"/>
              </a:defRPr>
            </a:pPr>
            <a:r>
              <a:t>Overdue milestone tasks indicate delivery timeline risk.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834640"/>
            <a:ext cx="10698480" cy="685800"/>
          </a:xfrm>
          <a:prstGeom prst="rect">
            <a:avLst/>
          </a:prstGeom>
          <a:solidFill>
            <a:srgbClr val="1A2348"/>
          </a:solidFill>
          <a:ln>
            <a:noFill/>
          </a:ln>
          <a:effectLst>
            <a:outerShdw blurRad="40000" dist="20000" dir="1350000" algn="bl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2834640"/>
            <a:ext cx="54864" cy="685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97280" y="2944368"/>
            <a:ext cx="731520" cy="2560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2944368"/>
            <a:ext cx="731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Watch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288036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Georgia"/>
              </a:defRPr>
            </a:pPr>
            <a:r>
              <a:t>CRM Migration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31546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2B0"/>
                </a:solidFill>
                <a:latin typeface="Calibri"/>
              </a:defRPr>
            </a:pPr>
            <a:r>
              <a:t>Budget overrun or signal drift. Requires active monitoring and mitigation plan.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657600"/>
            <a:ext cx="10698480" cy="685800"/>
          </a:xfrm>
          <a:prstGeom prst="rect">
            <a:avLst/>
          </a:prstGeom>
          <a:solidFill>
            <a:srgbClr val="1A2348"/>
          </a:solidFill>
          <a:ln>
            <a:noFill/>
          </a:ln>
          <a:effectLst>
            <a:outerShdw blurRad="40000" dist="20000" dir="1350000" algn="bl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3657600"/>
            <a:ext cx="54864" cy="685800"/>
          </a:xfrm>
          <a:prstGeom prst="rect">
            <a:avLst/>
          </a:prstGeom>
          <a:solidFill>
            <a:srgbClr val="E03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97280" y="3767328"/>
            <a:ext cx="731520" cy="256032"/>
          </a:xfrm>
          <a:prstGeom prst="rect">
            <a:avLst/>
          </a:prstGeom>
          <a:solidFill>
            <a:srgbClr val="E03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3767328"/>
            <a:ext cx="731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Critical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370332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Georgia"/>
              </a:defRPr>
            </a:pPr>
            <a:r>
              <a:t>Zycus - Titan S2P Implementation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3977639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2B0"/>
                </a:solidFill>
                <a:latin typeface="Calibri"/>
              </a:defRPr>
            </a:pPr>
            <a:r>
              <a:t>Multiple Red signals — schedule slippage and overdue milestones. Escalation recommended.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480560"/>
            <a:ext cx="10698480" cy="685800"/>
          </a:xfrm>
          <a:prstGeom prst="rect">
            <a:avLst/>
          </a:prstGeom>
          <a:solidFill>
            <a:srgbClr val="1A2348"/>
          </a:solidFill>
          <a:ln>
            <a:noFill/>
          </a:ln>
          <a:effectLst>
            <a:outerShdw blurRad="40000" dist="20000" dir="1350000" algn="bl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" y="4480560"/>
            <a:ext cx="54864" cy="685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97280" y="4590288"/>
            <a:ext cx="731520" cy="2560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4590288"/>
            <a:ext cx="731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11680" y="45262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Georgia"/>
              </a:defRPr>
            </a:pPr>
            <a:r>
              <a:t>Zycus - Titan S2P Implementation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11680" y="48006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2B0"/>
                </a:solidFill>
                <a:latin typeface="Calibri"/>
              </a:defRPr>
            </a:pPr>
            <a:r>
              <a:t>Overdue milestone tasks indicate delivery timeline risk.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Georgia"/>
              </a:defRPr>
            </a:pPr>
            <a:r>
              <a:t>Insights &amp; 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698480" cy="1005840"/>
          </a:xfrm>
          <a:prstGeom prst="rect">
            <a:avLst/>
          </a:prstGeom>
          <a:solidFill>
            <a:srgbClr val="1A2348"/>
          </a:solidFill>
          <a:ln>
            <a:noFill/>
          </a:ln>
          <a:effectLst>
            <a:outerShdw blurRad="40000" dist="20000" dir="1350000" algn="bl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" y="137160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CADCFC"/>
                </a:solidFill>
                <a:latin typeface="Georgia"/>
              </a:defRPr>
            </a:pPr>
            <a: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32588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Georgia"/>
              </a:defRPr>
            </a:pPr>
            <a:r>
              <a:t>3 of 3 projects require attention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69164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2B0"/>
                </a:solidFill>
                <a:latin typeface="Calibri"/>
              </a:defRPr>
            </a:pPr>
            <a:r>
              <a:t>2 Red (immediate escalation) and 1 Amber (monitoring) status projects identified.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423160"/>
            <a:ext cx="10698480" cy="1005840"/>
          </a:xfrm>
          <a:prstGeom prst="rect">
            <a:avLst/>
          </a:prstGeom>
          <a:solidFill>
            <a:srgbClr val="1A2348"/>
          </a:solidFill>
          <a:ln>
            <a:noFill/>
          </a:ln>
          <a:effectLst>
            <a:outerShdw blurRad="40000" dist="20000" dir="1350000" algn="bl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260604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60604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CADCFC"/>
                </a:solidFill>
                <a:latin typeface="Georgia"/>
              </a:defRPr>
            </a:pPr>
            <a:r>
              <a:t>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56032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Georgia"/>
              </a:defRPr>
            </a:pPr>
            <a:r>
              <a:t>Data gaps limit assessment depth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92608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2B0"/>
                </a:solidFill>
                <a:latin typeface="Calibri"/>
              </a:defRPr>
            </a:pPr>
            <a:r>
              <a:t>Budget and stakeholder sentiment fields are missing from standard exports. Adding these would improve accuracy.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657600"/>
            <a:ext cx="10698480" cy="1005840"/>
          </a:xfrm>
          <a:prstGeom prst="rect">
            <a:avLst/>
          </a:prstGeom>
          <a:solidFill>
            <a:srgbClr val="1A2348"/>
          </a:solidFill>
          <a:ln>
            <a:noFill/>
          </a:ln>
          <a:effectLst>
            <a:outerShdw blurRad="40000" dist="20000" dir="1350000" algn="bl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97280" y="384048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84048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CADCFC"/>
                </a:solidFill>
                <a:latin typeface="Georgia"/>
              </a:defRPr>
            </a:pPr>
            <a:r>
              <a:t>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379476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Georgia"/>
              </a:defRPr>
            </a:pPr>
            <a:r>
              <a:t>Milestone overdue is the top risk driver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416052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2B0"/>
                </a:solidFill>
                <a:latin typeface="Calibri"/>
              </a:defRPr>
            </a:pPr>
            <a:r>
              <a:t>Across all projects, overdue tasks are the primary factor pushing status to Red.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892040"/>
            <a:ext cx="10698480" cy="1005840"/>
          </a:xfrm>
          <a:prstGeom prst="rect">
            <a:avLst/>
          </a:prstGeom>
          <a:solidFill>
            <a:srgbClr val="1A2348"/>
          </a:solidFill>
          <a:ln>
            <a:noFill/>
          </a:ln>
          <a:effectLst>
            <a:outerShdw blurRad="40000" dist="20000" dir="1350000" algn="bl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97280" y="507492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0749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CADCFC"/>
                </a:solidFill>
                <a:latin typeface="Georgia"/>
              </a:defRPr>
            </a:pPr>
            <a:r>
              <a:t>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50292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Georgia"/>
              </a:defRPr>
            </a:pPr>
            <a:r>
              <a:t>Recommend adding structured sentiment field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539496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2B0"/>
                </a:solidFill>
                <a:latin typeface="Calibri"/>
              </a:defRPr>
            </a:pPr>
            <a:r>
              <a:t>A PM status-comment field would enable the sentiment signal and provide richer context.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Georgia"/>
              </a:defRPr>
            </a:pPr>
            <a:r>
              <a:t>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D1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580"/>
                </a:solidFill>
                <a:latin typeface="Calibri"/>
              </a:defRPr>
            </a:pPr>
            <a:r>
              <a:t>Project Health Reporting Agent  |  RAG_METHODOLOGY.md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920240" cy="3566160"/>
          </a:xfrm>
          <a:prstGeom prst="rect">
            <a:avLst/>
          </a:prstGeom>
          <a:solidFill>
            <a:srgbClr val="1A2348"/>
          </a:solidFill>
          <a:ln>
            <a:noFill/>
          </a:ln>
          <a:effectLst>
            <a:outerShdw blurRad="40000" dist="20000" dir="1350000" algn="bl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1920240" cy="54864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ADCFC"/>
                </a:solidFill>
                <a:latin typeface="Georgia"/>
              </a:defRPr>
            </a:pPr>
            <a:r>
              <a:t>Schedule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1554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2B0"/>
                </a:solidFill>
                <a:latin typeface="Calibri"/>
              </a:defRPr>
            </a:pPr>
            <a:r>
              <a:t>% of tasks flagged Red determines status (≤5% Green, ≤15% Amber, &gt;15% Red)</a:t>
            </a:r>
          </a:p>
        </p:txBody>
      </p:sp>
      <p:sp>
        <p:nvSpPr>
          <p:cNvPr id="9" name="Rectangle 8"/>
          <p:cNvSpPr/>
          <p:nvPr/>
        </p:nvSpPr>
        <p:spPr>
          <a:xfrm>
            <a:off x="2880360" y="1280160"/>
            <a:ext cx="1920240" cy="3566160"/>
          </a:xfrm>
          <a:prstGeom prst="rect">
            <a:avLst/>
          </a:prstGeom>
          <a:solidFill>
            <a:srgbClr val="1A2348"/>
          </a:solidFill>
          <a:ln>
            <a:noFill/>
          </a:ln>
          <a:effectLst>
            <a:outerShdw blurRad="40000" dist="20000" dir="1350000" algn="bl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80360" y="1280160"/>
            <a:ext cx="1920240" cy="54864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3240" y="15544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ADCFC"/>
                </a:solidFill>
                <a:latin typeface="Georgia"/>
              </a:defRPr>
            </a:pPr>
            <a:r>
              <a:t>Budget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2103120"/>
            <a:ext cx="1554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2B0"/>
                </a:solidFill>
                <a:latin typeface="Calibri"/>
              </a:defRPr>
            </a:pPr>
            <a:r>
              <a:t>Burn ratio = spend% / complete%. Compares spending rate against progress rate.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1280160"/>
            <a:ext cx="1920240" cy="3566160"/>
          </a:xfrm>
          <a:prstGeom prst="rect">
            <a:avLst/>
          </a:prstGeom>
          <a:solidFill>
            <a:srgbClr val="1A2348"/>
          </a:solidFill>
          <a:ln>
            <a:noFill/>
          </a:ln>
          <a:effectLst>
            <a:outerShdw blurRad="40000" dist="20000" dir="1350000" algn="bl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0" y="1280160"/>
            <a:ext cx="1920240" cy="54864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0" y="15544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ADCFC"/>
                </a:solidFill>
                <a:latin typeface="Georgia"/>
              </a:defRPr>
            </a:pPr>
            <a:r>
              <a:t>Milestones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2103120"/>
            <a:ext cx="1554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2B0"/>
                </a:solidFill>
                <a:latin typeface="Calibri"/>
              </a:defRPr>
            </a:pPr>
            <a:r>
              <a:t>Count of overdue (past End Date) incomplete tasks. &gt;15 = Red, 6-15 = Amber.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78040" y="1280160"/>
            <a:ext cx="1920240" cy="3566160"/>
          </a:xfrm>
          <a:prstGeom prst="rect">
            <a:avLst/>
          </a:prstGeom>
          <a:solidFill>
            <a:srgbClr val="1A2348"/>
          </a:solidFill>
          <a:ln>
            <a:noFill/>
          </a:ln>
          <a:effectLst>
            <a:outerShdw blurRad="40000" dist="20000" dir="1350000" algn="bl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78040" y="1280160"/>
            <a:ext cx="1920240" cy="54864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60920" y="15544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ADCFC"/>
                </a:solidFill>
                <a:latin typeface="Georgia"/>
              </a:defRPr>
            </a:pPr>
            <a:r>
              <a:t>Blockers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2103120"/>
            <a:ext cx="1554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2B0"/>
                </a:solidFill>
                <a:latin typeface="Calibri"/>
              </a:defRPr>
            </a:pPr>
            <a:r>
              <a:t>Overdue critical tasks serve as blocker proxy. &gt;2 = Red, 1-2 = Amber.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0" y="1280160"/>
            <a:ext cx="1920240" cy="3566160"/>
          </a:xfrm>
          <a:prstGeom prst="rect">
            <a:avLst/>
          </a:prstGeom>
          <a:solidFill>
            <a:srgbClr val="1A2348"/>
          </a:solidFill>
          <a:ln>
            <a:noFill/>
          </a:ln>
          <a:effectLst>
            <a:outerShdw blurRad="40000" dist="20000" dir="1350000" algn="bl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326880" y="1280160"/>
            <a:ext cx="1920240" cy="54864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0" y="15544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ADCFC"/>
                </a:solidFill>
                <a:latin typeface="Georgia"/>
              </a:defRPr>
            </a:pPr>
            <a:r>
              <a:t>Sentiment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2103120"/>
            <a:ext cx="1554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2B0"/>
                </a:solidFill>
                <a:latin typeface="Calibri"/>
              </a:defRPr>
            </a:pPr>
            <a:r>
              <a:t>Narrative signal from PM comments. Currently disabled — no structured source field.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120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580"/>
                </a:solidFill>
                <a:latin typeface="Calibri"/>
              </a:defRPr>
            </a:pPr>
            <a:r>
              <a:t>Overall status = worst signal, except single-Red capped to Amber if all other signals are Green.  |  Thresholds: config/rag_thresholds.yaml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